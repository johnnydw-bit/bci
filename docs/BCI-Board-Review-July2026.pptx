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7922D"/>
          </a:solidFill>
          <a:ln w="12700">
            <a:solidFill>
              <a:srgbClr val="B792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163D16"/>
          </a:solidFill>
          <a:ln w="12700">
            <a:solidFill>
              <a:srgbClr val="163D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8229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Bramley Golf Club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85800" y="16002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A8D5A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Continuous Improvement Programme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2286000"/>
            <a:ext cx="7315200" cy="0"/>
          </a:xfrm>
          <a:prstGeom prst="line">
            <a:avLst/>
          </a:prstGeom>
          <a:noFill/>
          <a:ln w="25400">
            <a:solidFill>
              <a:srgbClr val="B792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4688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D4E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Beta Review  ·  24 July 2026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85800" y="422452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8FBF8F"/>
                </a:solidFill>
              </a:rPr>
              <a:t>CONFIDENTIAL — BOARD ONLY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63D16"/>
          </a:solidFill>
          <a:ln w="12700">
            <a:solidFill>
              <a:srgbClr val="163D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8234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FBF8F"/>
                </a:solidFill>
              </a:rPr>
              <a:t>Bramley Golf Club CIP  ·  Board Beta Review  ·  July 2026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229600" y="48234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BF8F"/>
                </a:solidFill>
              </a:rPr>
              <a:t>1 / 14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C1A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problem are we solving?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ideas currently reach the Board by chance — AGM floor, corridor conversations, email to the Secretary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systematic way to capture, filter, or prioritise improvement suggestions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ideas get lost; the same ideas resurface year after year at the AGM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for members on whether their idea was heard or acted on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Board spends time on low-impact requests and misses high-impact ones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E9F0EA"/>
          </a:solidFill>
          <a:ln w="12700">
            <a:solidFill>
              <a:srgbClr val="C8DC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234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7A4A"/>
                </a:solidFill>
              </a:rPr>
              <a:t>Bramley Golf Club CIP  ·  Board Beta Review  ·  July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48234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7A4A"/>
                </a:solidFill>
              </a:rPr>
              <a:t>2 / 14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C1A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CIP system does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60520" cy="3657600"/>
          </a:xfrm>
          <a:prstGeom prst="rect">
            <a:avLst/>
          </a:prstGeom>
          <a:solidFill>
            <a:srgbClr val="E8F5E9"/>
          </a:solidFill>
          <a:ln w="12700">
            <a:solidFill>
              <a:srgbClr val="C8DC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4160520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MEMBERS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38862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an idea in under 2 minutes from any device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AI-generated acknowledgement — no waiting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status tracking via personal portal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whether your idea was heard and why it was or wasn't progressed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160520" cy="3657600"/>
          </a:xfrm>
          <a:prstGeom prst="rect">
            <a:avLst/>
          </a:prstGeom>
          <a:solidFill>
            <a:srgbClr val="EBF5FB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1005840"/>
            <a:ext cx="416052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0058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BOARD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1463040"/>
            <a:ext cx="38862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scored overnight by AI across 6 quality dimensions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/ Active / Holding / Low bands replace gut-feel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Directors triage in a single dashboard — no email threads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ratification chain enforces correct sign-off authority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integration flags ideas that need financial approval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E9F0EA"/>
          </a:solidFill>
          <a:ln w="12700">
            <a:solidFill>
              <a:srgbClr val="C8DC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234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7A4A"/>
                </a:solidFill>
              </a:rPr>
              <a:t>Bramley Golf Club CIP  ·  Board Beta Review  ·  July 2026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229600" y="48234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7A4A"/>
                </a:solidFill>
              </a:rPr>
              <a:t>3 / 14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C1A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155448"/>
            <a:ext cx="603504" cy="603504"/>
          </a:xfrm>
          <a:prstGeom prst="ellipse">
            <a:avLst/>
          </a:prstGeom>
          <a:solidFill>
            <a:srgbClr val="B7922D"/>
          </a:solidFill>
          <a:ln w="12700">
            <a:solidFill>
              <a:srgbClr val="B792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1554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64008"/>
            <a:ext cx="8001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Objection: We already do this at the AGM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8595360" cy="914400"/>
          </a:xfrm>
          <a:prstGeom prst="rect">
            <a:avLst/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D97706"/>
                </a:solidFill>
              </a:rPr>
              <a:t>THE CONCERN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1207008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collect member feedback at the AGM and prize-givings. Why do we need more?"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4320" y="1984248"/>
            <a:ext cx="8595360" cy="2633472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0025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2E7D32"/>
                </a:solidFill>
              </a:rPr>
              <a:t>OUR RESPONSE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11480" y="2231136"/>
            <a:ext cx="822960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AGM feedback is annual — ideas submitted in August wait 10 months to be heard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discussions favour confident speakers, not necessarily the best ideas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written down systematically — ideas without a seconder are lost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system captures ideas 365 days a year and gives every member an equal voice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replace AGM discussion — it means the AGM is better informed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E9F0EA"/>
          </a:solidFill>
          <a:ln w="12700">
            <a:solidFill>
              <a:srgbClr val="C8DC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234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7A4A"/>
                </a:solidFill>
              </a:rPr>
              <a:t>Bramley Golf Club CIP  ·  Board Beta Review  ·  July 2026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229600" y="48234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7A4A"/>
                </a:solidFill>
              </a:rPr>
              <a:t>4 / 14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C1A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155448"/>
            <a:ext cx="603504" cy="603504"/>
          </a:xfrm>
          <a:prstGeom prst="ellipse">
            <a:avLst/>
          </a:prstGeom>
          <a:solidFill>
            <a:srgbClr val="B7922D"/>
          </a:solidFill>
          <a:ln w="12700">
            <a:solidFill>
              <a:srgbClr val="B792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1554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64008"/>
            <a:ext cx="8001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Objection: Members won't use it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8595360" cy="914400"/>
          </a:xfrm>
          <a:prstGeom prst="rect">
            <a:avLst/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D97706"/>
                </a:solidFill>
              </a:rPr>
              <a:t>THE CONCERN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1207008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"Our members are not all tech-savvy. Uptake will be low."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4320" y="1984248"/>
            <a:ext cx="8595360" cy="2633472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0025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2E7D32"/>
                </a:solidFill>
              </a:rPr>
              <a:t>OUR RESPONSE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11480" y="2231136"/>
            <a:ext cx="822960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submission form is three fields: idea, who benefits, and impact rating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account, no login, no app to download — works on any phone or browser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receive an immediate personal response written in plain English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testers completed the submission in under 90 seconds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uptake in month 1 is fine — even 10 ideas per quarter is 10 more than before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E9F0EA"/>
          </a:solidFill>
          <a:ln w="12700">
            <a:solidFill>
              <a:srgbClr val="C8DC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234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7A4A"/>
                </a:solidFill>
              </a:rPr>
              <a:t>Bramley Golf Club CIP  ·  Board Beta Review  ·  July 2026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229600" y="48234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7A4A"/>
                </a:solidFill>
              </a:rPr>
              <a:t>5 / 14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C1A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155448"/>
            <a:ext cx="603504" cy="603504"/>
          </a:xfrm>
          <a:prstGeom prst="ellipse">
            <a:avLst/>
          </a:prstGeom>
          <a:solidFill>
            <a:srgbClr val="B7922D"/>
          </a:solidFill>
          <a:ln w="12700">
            <a:solidFill>
              <a:srgbClr val="B792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1554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64008"/>
            <a:ext cx="8001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Objection: The Board will be swamped with trivial requests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8595360" cy="914400"/>
          </a:xfrm>
          <a:prstGeom prst="rect">
            <a:avLst/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D97706"/>
                </a:solidFill>
              </a:rPr>
              <a:t>THE CONCERN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1207008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we make it easy to submit, we'll be buried in 'fix the car park' requests."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4320" y="1984248"/>
            <a:ext cx="8595360" cy="2633472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0025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2E7D32"/>
                </a:solidFill>
              </a:rPr>
              <a:t>OUR RESPONSE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11480" y="2231136"/>
            <a:ext cx="822960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scores every submission overnight on 6 dimensions — quality, feasibility, strategic fit, cost/benefit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Low-scoring submissions land in Low or Not Progressed bands automatically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Directors only engage with Priority and Active bands in the triage dashboard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Trivial requests get an AI-generated explanation to the member — no Board time consumed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Board sets the scoring weights and band thresholds — you control the filter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E9F0EA"/>
          </a:solidFill>
          <a:ln w="12700">
            <a:solidFill>
              <a:srgbClr val="C8DC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234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7A4A"/>
                </a:solidFill>
              </a:rPr>
              <a:t>Bramley Golf Club CIP  ·  Board Beta Review  ·  July 2026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229600" y="48234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7A4A"/>
                </a:solidFill>
              </a:rPr>
              <a:t>6 / 14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C1A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155448"/>
            <a:ext cx="603504" cy="603504"/>
          </a:xfrm>
          <a:prstGeom prst="ellipse">
            <a:avLst/>
          </a:prstGeom>
          <a:solidFill>
            <a:srgbClr val="B7922D"/>
          </a:solidFill>
          <a:ln w="12700">
            <a:solidFill>
              <a:srgbClr val="B792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1554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64008"/>
            <a:ext cx="8001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Objection: We can't commit to actioning everything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8595360" cy="914400"/>
          </a:xfrm>
          <a:prstGeom prst="rect">
            <a:avLst/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D97706"/>
                </a:solidFill>
              </a:rPr>
              <a:t>THE CONCERN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1207008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members submit ideas and nothing happens, it will damage trust more than not having the system."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4320" y="1984248"/>
            <a:ext cx="8595360" cy="2633472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0025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2E7D32"/>
                </a:solidFill>
              </a:rPr>
              <a:t>OUR RESPONSE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11480" y="2231136"/>
            <a:ext cx="822960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not a promise to implement — it is a promise to listen and respond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submission receives a Board message explaining the decision, whether progressed or not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"Not Progressed" with a clear reason is far better than silence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say they want to be heard, not necessarily to get their way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transparency actually reduces frustration — members know their idea was reviewed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E9F0EA"/>
          </a:solidFill>
          <a:ln w="12700">
            <a:solidFill>
              <a:srgbClr val="C8DC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234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7A4A"/>
                </a:solidFill>
              </a:rPr>
              <a:t>Bramley Golf Club CIP  ·  Board Beta Review  ·  July 2026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229600" y="48234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7A4A"/>
                </a:solidFill>
              </a:rPr>
              <a:t>7 / 14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C1A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155448"/>
            <a:ext cx="603504" cy="603504"/>
          </a:xfrm>
          <a:prstGeom prst="ellipse">
            <a:avLst/>
          </a:prstGeom>
          <a:solidFill>
            <a:srgbClr val="B7922D"/>
          </a:solidFill>
          <a:ln w="12700">
            <a:solidFill>
              <a:srgbClr val="B792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1554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64008"/>
            <a:ext cx="8001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Objection: Directors don't have time for another system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8595360" cy="914400"/>
          </a:xfrm>
          <a:prstGeom prst="rect">
            <a:avLst/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D97706"/>
                </a:solidFill>
              </a:rPr>
              <a:t>THE CONCERN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1207008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are all volunteers. Adding a weekly triage task is another burden."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4320" y="1984248"/>
            <a:ext cx="8595360" cy="2633472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0025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2E7D32"/>
                </a:solidFill>
              </a:rPr>
              <a:t>OUR RESPONSE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11480" y="2231136"/>
            <a:ext cx="822960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Directors only receive ideas in their own area — Golf Director sees course and competitions only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pre-scores and summarises every idea — a director reads a one-sentence summary, not the full text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is designed to take 10–15 minutes per week — one coffee meeting equivalent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alternative is managing feedback ad hoc via email, corridor conversations, and scribbled notes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replaces existing overhead — it does not add to it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E9F0EA"/>
          </a:solidFill>
          <a:ln w="12700">
            <a:solidFill>
              <a:srgbClr val="C8DC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234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7A4A"/>
                </a:solidFill>
              </a:rPr>
              <a:t>Bramley Golf Club CIP  ·  Board Beta Review  ·  July 2026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229600" y="48234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7A4A"/>
                </a:solidFill>
              </a:rPr>
              <a:t>8 / 14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C1A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155448"/>
            <a:ext cx="603504" cy="603504"/>
          </a:xfrm>
          <a:prstGeom prst="ellipse">
            <a:avLst/>
          </a:prstGeom>
          <a:solidFill>
            <a:srgbClr val="B7922D"/>
          </a:solidFill>
          <a:ln w="12700">
            <a:solidFill>
              <a:srgbClr val="B792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1554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64008"/>
            <a:ext cx="8001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Objection: Can we trust AI to score our members' ideas?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8595360" cy="914400"/>
          </a:xfrm>
          <a:prstGeom prst="rect">
            <a:avLst/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D97706"/>
                </a:solidFill>
              </a:rPr>
              <a:t>THE CONCERN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1207008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 AI doesn't know Bramley. It might miss what's important to us."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4320" y="1984248"/>
            <a:ext cx="8595360" cy="2633472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0025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2E7D32"/>
                </a:solidFill>
              </a:rPr>
              <a:t>OUR RESPONSE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11480" y="2231136"/>
            <a:ext cx="822960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scoring is a first-pass filter only — not a decision. Directors make all final decisions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are fully configurable: the Board sets dimension weights and band thresholds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director can override a score with a reason — the override is logged in the audit trail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is briefed on Bramley's context: private members club, ~500–800 members, club priorities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3–6 months, the Board reviews weights and adjusts to reflect what matters at Bramley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E9F0EA"/>
          </a:solidFill>
          <a:ln w="12700">
            <a:solidFill>
              <a:srgbClr val="C8DC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234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7A4A"/>
                </a:solidFill>
              </a:rPr>
              <a:t>Bramley Golf Club CIP  ·  Board Beta Review  ·  July 2026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229600" y="48234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7A4A"/>
                </a:solidFill>
              </a:rPr>
              <a:t>9 / 14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C1A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155448"/>
            <a:ext cx="603504" cy="603504"/>
          </a:xfrm>
          <a:prstGeom prst="ellipse">
            <a:avLst/>
          </a:prstGeom>
          <a:solidFill>
            <a:srgbClr val="B7922D"/>
          </a:solidFill>
          <a:ln w="12700">
            <a:solidFill>
              <a:srgbClr val="B792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1554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64008"/>
            <a:ext cx="8001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Objection: What about data privacy and GDPR?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8595360" cy="914400"/>
          </a:xfrm>
          <a:prstGeom prst="rect">
            <a:avLst/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D97706"/>
                </a:solidFill>
              </a:rPr>
              <a:t>THE CONCERN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1207008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are collecting member names and contact details. What are our obligations?"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4320" y="1984248"/>
            <a:ext cx="8595360" cy="2633472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0025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2E7D32"/>
                </a:solidFill>
              </a:rPr>
              <a:t>OUR RESPONSE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11480" y="2231136"/>
            <a:ext cx="822960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submissions are stored on EU-hosted PostgreSQL — no data leaves the EU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consent to data use at submission — consent text is shown before submitting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can withdraw a submission at any time, removing their personal data from live views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submission data is shared with third parties — AI processing uses no data retention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stores no payment data and requires no account creation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E9F0EA"/>
          </a:solidFill>
          <a:ln w="12700">
            <a:solidFill>
              <a:srgbClr val="C8DC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234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7A4A"/>
                </a:solidFill>
              </a:rPr>
              <a:t>Bramley Golf Club CIP  ·  Board Beta Review  ·  July 2026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229600" y="48234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7A4A"/>
                </a:solidFill>
              </a:rPr>
              <a:t>10 / 14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C1A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155448"/>
            <a:ext cx="603504" cy="603504"/>
          </a:xfrm>
          <a:prstGeom prst="ellipse">
            <a:avLst/>
          </a:prstGeom>
          <a:solidFill>
            <a:srgbClr val="B7922D"/>
          </a:solidFill>
          <a:ln w="12700">
            <a:solidFill>
              <a:srgbClr val="B792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1554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64008"/>
            <a:ext cx="8001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Objection: What if the developer isn't available?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8595360" cy="914400"/>
          </a:xfrm>
          <a:prstGeom prst="rect">
            <a:avLst/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D97706"/>
                </a:solidFill>
              </a:rPr>
              <a:t>THE CONCERN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1207008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are dependent on one person to keep this running."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4320" y="1984248"/>
            <a:ext cx="8595360" cy="2633472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0025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2E7D32"/>
                </a:solidFill>
              </a:rPr>
              <a:t>OUR RESPONSE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11480" y="2231136"/>
            <a:ext cx="822960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continuity guide exists, written in plain English for non-technical Club Managers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self-sustaining — scoring and emails run automatically via scheduled jobs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is managed by Vercel and Neon — 99.9%+ uptime, no manual intervention required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code is in a private repository — any competent developer can take it over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Club Manager can add/remove directors, reset PINs, and manage config without developer help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E9F0EA"/>
          </a:solidFill>
          <a:ln w="12700">
            <a:solidFill>
              <a:srgbClr val="C8DC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234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7A4A"/>
                </a:solidFill>
              </a:rPr>
              <a:t>Bramley Golf Club CIP  ·  Board Beta Review  ·  July 2026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229600" y="48234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7A4A"/>
                </a:solidFill>
              </a:rPr>
              <a:t>11 / 14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C1A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155448"/>
            <a:ext cx="603504" cy="603504"/>
          </a:xfrm>
          <a:prstGeom prst="ellipse">
            <a:avLst/>
          </a:prstGeom>
          <a:solidFill>
            <a:srgbClr val="B7922D"/>
          </a:solidFill>
          <a:ln w="12700">
            <a:solidFill>
              <a:srgbClr val="B792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" y="15544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64008"/>
            <a:ext cx="8001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Objection: What does this cost?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8595360" cy="914400"/>
          </a:xfrm>
          <a:prstGeom prst="rect">
            <a:avLst/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058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D97706"/>
                </a:solidFill>
              </a:rPr>
              <a:t>THE CONCERN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11480" y="1207008"/>
            <a:ext cx="8321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"Development time aside, what are the ongoing running costs?"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4320" y="1984248"/>
            <a:ext cx="8595360" cy="2633472"/>
          </a:xfrm>
          <a:prstGeom prst="rect">
            <a:avLst/>
          </a:prstGeom>
          <a:solidFill>
            <a:srgbClr val="E8F5E9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0025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2E7D32"/>
                </a:solidFill>
              </a:rPr>
              <a:t>OUR RESPONSE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11480" y="2231136"/>
            <a:ext cx="822960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hosting: free tier covers expected traffic volumes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 database: free tier covers storage requirements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 email: free tier covers up to 3,000 emails/month — sufficient for club volumes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AI: scoring 20 submissions/week costs approximately £2–5/month at current pricing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estimated monthly running cost: under £10 — less than a bag of range balls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E9F0EA"/>
          </a:solidFill>
          <a:ln w="12700">
            <a:solidFill>
              <a:srgbClr val="C8DC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8234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7A4A"/>
                </a:solidFill>
              </a:rPr>
              <a:t>Bramley Golf Club CIP  ·  Board Beta Review  ·  July 2026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229600" y="48234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7A4A"/>
                </a:solidFill>
              </a:rPr>
              <a:t>12 / 14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5C1A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are asking for today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206240" cy="1463040"/>
          </a:xfrm>
          <a:prstGeom prst="rect">
            <a:avLst/>
          </a:prstGeom>
          <a:solidFill>
            <a:srgbClr val="E8F5E9"/>
          </a:solidFill>
          <a:ln w="12700">
            <a:solidFill>
              <a:srgbClr val="C8DC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207008"/>
            <a:ext cx="457200" cy="457200"/>
          </a:xfrm>
          <a:prstGeom prst="ellipse">
            <a:avLst/>
          </a:prstGeom>
          <a:solidFill>
            <a:srgbClr val="1A5C1A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1188720"/>
            <a:ext cx="342900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a live walkthrough — submit a test idea on your phone and watch it flow through the system (see separate demo guide)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4206240" cy="1463040"/>
          </a:xfrm>
          <a:prstGeom prst="rect">
            <a:avLst/>
          </a:prstGeom>
          <a:solidFill>
            <a:srgbClr val="E8F5E9"/>
          </a:solidFill>
          <a:ln w="12700">
            <a:solidFill>
              <a:srgbClr val="C8DC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18888" y="1207008"/>
            <a:ext cx="457200" cy="457200"/>
          </a:xfrm>
          <a:prstGeom prst="ellipse">
            <a:avLst/>
          </a:prstGeom>
          <a:solidFill>
            <a:srgbClr val="1A5C1A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18888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67528" y="1188720"/>
            <a:ext cx="342900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to a 3-month live pilot from 1 September 2026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697480"/>
            <a:ext cx="4206240" cy="1463040"/>
          </a:xfrm>
          <a:prstGeom prst="rect">
            <a:avLst/>
          </a:prstGeom>
          <a:solidFill>
            <a:srgbClr val="E8F5E9"/>
          </a:solidFill>
          <a:ln w="12700">
            <a:solidFill>
              <a:srgbClr val="C8DCC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" y="2807208"/>
            <a:ext cx="457200" cy="457200"/>
          </a:xfrm>
          <a:prstGeom prst="ellipse">
            <a:avLst/>
          </a:prstGeom>
          <a:solidFill>
            <a:srgbClr val="1A5C1A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32688" y="2788920"/>
            <a:ext cx="342900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Nominate one director per area as the pilot triage lead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2697480"/>
            <a:ext cx="4206240" cy="1463040"/>
          </a:xfrm>
          <a:prstGeom prst="rect">
            <a:avLst/>
          </a:prstGeom>
          <a:solidFill>
            <a:srgbClr val="E8F5E9"/>
          </a:solidFill>
          <a:ln w="12700">
            <a:solidFill>
              <a:srgbClr val="C8DCC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18888" y="2807208"/>
            <a:ext cx="457200" cy="457200"/>
          </a:xfrm>
          <a:prstGeom prst="ellipse">
            <a:avLst/>
          </a:prstGeom>
          <a:solidFill>
            <a:srgbClr val="1A5C1A"/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18888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67528" y="2788920"/>
            <a:ext cx="342900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how to communicate the pilot to members — newsletter, noticeboards, or email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" y="431596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metric: By December 2026, every Board member has triaged at least one submission and can describe one improvement idea that would not otherwise have reached the agenda.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E9F0EA"/>
          </a:solidFill>
          <a:ln w="12700">
            <a:solidFill>
              <a:srgbClr val="C8DCC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234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4A7A4A"/>
                </a:solidFill>
              </a:rPr>
              <a:t>Bramley Golf Club CIP  ·  Board Beta Review  ·  July 2026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229600" y="48234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A7A4A"/>
                </a:solidFill>
              </a:rPr>
              <a:t>13 / 14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5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7922D"/>
          </a:solidFill>
          <a:ln w="12700">
            <a:solidFill>
              <a:srgbClr val="B792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163D16"/>
          </a:solidFill>
          <a:ln w="12700">
            <a:solidFill>
              <a:srgbClr val="163D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00584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685800" y="2514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8D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follows — please have your phone ready to submit a test idea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3200400"/>
            <a:ext cx="7315200" cy="0"/>
          </a:xfrm>
          <a:prstGeom prst="line">
            <a:avLst/>
          </a:prstGeom>
          <a:noFill/>
          <a:ln w="19050">
            <a:solidFill>
              <a:srgbClr val="B792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337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FB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designed and built by John de Wit  ·  bramley-bci.vercel.app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63D16"/>
          </a:solidFill>
          <a:ln w="12700">
            <a:solidFill>
              <a:srgbClr val="163D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8234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FBF8F"/>
                </a:solidFill>
              </a:rPr>
              <a:t>Bramley Golf Club CIP  ·  Board Beta Review  ·  July 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48234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BF8F"/>
                </a:solidFill>
              </a:rPr>
              <a:t>14 / 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Bramley Golf Club CIP — Board Beta Review July 2026</dc:title>
  <dc:subject>PptxGenJS Presentation</dc:subject>
  <dc:creator>PptxGenJS</dc:creator>
  <cp:lastModifiedBy>PptxGenJS</cp:lastModifiedBy>
  <cp:revision>1</cp:revision>
  <dcterms:created xsi:type="dcterms:W3CDTF">2026-06-27T11:29:46Z</dcterms:created>
  <dcterms:modified xsi:type="dcterms:W3CDTF">2026-06-27T11:29:46Z</dcterms:modified>
</cp:coreProperties>
</file>